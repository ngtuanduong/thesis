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179" autoAdjust="0"/>
  </p:normalViewPr>
  <p:slideViewPr>
    <p:cSldViewPr snapToGrid="0" snapToObjects="1">
      <p:cViewPr>
        <p:scale>
          <a:sx n="100" d="100"/>
          <a:sy n="100" d="100"/>
        </p:scale>
        <p:origin x="25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75897-770F-44E1-AB8A-2B32C30B7758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4E561-7F9C-441E-AFBA-1F000FF79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2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m.sc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Greet: name → 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Nguyễn Tuấn Dương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class 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1C22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Faculty of IT.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Advisor: </a:t>
            </a:r>
            <a:r>
              <a:rPr lang="vi-V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M.Sc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Bùi Quốc Khánh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One-line pitch: </a:t>
            </a:r>
            <a:r>
              <a:rPr lang="vi-V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five-layer adaptive platform that personalises programming practice on every code submission."</a:t>
            </a:r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 upfront: </a:t>
            </a:r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paper + pre-registered pilot protocol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Pause 2s after advisor's name. Don't rush.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8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30–40%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failure in CS1.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 for decades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(Luxton-Reilly 2018).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lack of practice — millions of problems online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LeetCode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HackerRank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Codeforces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cause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skill is acquired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taught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bottleneck is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the volume.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Stress "30–40%". Pause 2s.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49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mature techniques: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BKT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(Corbett &amp; Anderson 1995) — per-concept mastery.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Pelánek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2016) — difficulty calibration.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MAB / Thompson Sampling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explore vs. exploit.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(Ye et al. 2022) — spaced reviews.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studied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 or in pairs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composed all four 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programming education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under a shared knowledge graph.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gap is what this paper closes.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 on the four names — they're the four pillars of the rest of the talk.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73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graph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 concepts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~45 prerequisite edges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BKT — mastery posterior.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dynamic Elo — difficulty calibration.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 hierarchical MAB — picks next concept and next problem.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L4 FSRS — review scheduling.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L5 LLM Socratic hints —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 by default during evaluation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laser pointer top-down. Mention L5 quickly, then move on.																																						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28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Per-learner, per-concept posterior — 4 classical params (prior, transition, guess, slip).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Mastered when posterior crosses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θₘ = 0.85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Tiered priors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5 sets, one per difficulty tier → calibrated cold-start across the curriculum.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Anticipate "Why BKT not DKT?" — answer is on the slide; defer to Q&amp;A if asked.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18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 ratings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every learner rated, every problem rated.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K ∈ [10, 40]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bigger K when struggling, smaller when steady.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ZPD filter δ ∈ [50, 250]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rating points → ≈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36–64% predicted success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("hard, but not too hard" — Bjork's desirable difficulty).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candidate pool that L3 picks from.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Stress "dual" and "dynamic". Slow on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36–64%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number.</a:t>
            </a:r>
          </a:p>
          <a:p>
            <a:r>
              <a:rPr lang="en-US" dirty="0"/>
              <a:t>																											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8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Two-level Thompson Sampling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outer arm = concept, inner arm = problem.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arm: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Beta(</a:t>
            </a:r>
            <a:r>
              <a:rPr lang="el-G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α, β)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posterior.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Prerequisite gate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concept becomes an arm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if every prerequisite has BKT mastery ≥ 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ₘ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Inner level filtered by ZPD.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 ∈ [0, 1] = weighted combo of BKT learning gain + correctness + solve-time efficiency. Weights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heuristic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re-estimation from pilot traces is named future work.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Densest slide. Hand-mime the two-level structure if helpful.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50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original single idea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first application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FSRS to programming retention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FSRS designed for flashcards (single signal, 4-level recall: Again/Hard/Good/Easy).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submission has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richer signal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correctness + attempts + time.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 (right side):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wrong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correct, 1st attempt, &lt; 2 min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2–5 min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&gt; 5 min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&gt; 1 attempt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 fires when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retrievability R(t) &lt; 0.9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Quotable slide. Deliver slowly. Point at code as you read each branch.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77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important slide of the talk.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concrete submission — Python solution, problem tagged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Sandboxed run → verdict triple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(correctness, attempts, time)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asyncio.gather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 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parallel updates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updates BKT posterior for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recursion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updates learner's &amp; problem's Elo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L4 maps verdict → FSRS rating, rewrites due date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 takes new state, re-ranks candidate pool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invalidated → next request gets fresh state.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 model never stale.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under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concurrent users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 the sequence diagram left → right with laser pointer.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10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 actually built: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components: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NestJS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PostgreSQL/Redis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15k LOC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 concepts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170 problems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500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p95 recommendation latency.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tests cover full submit-to-recommend round-trip.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Docker Compose command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deploy. Open-source.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numbers crisply. Slow on the digits.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7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Between-subjects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control = same UI on non-adaptive recs.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= 40–60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Hanoi University undergrads.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4-week intervention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Week-8 retention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follow-up.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IRB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Protocol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pre-registered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 RQ1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predictive validity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 ≥ 0.70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BKT/Elo on post-intervention items.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Acceptance rate, convergence speed, learning gain = supporting indicators.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 →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follow-up paper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important risk-defusal moment. Slow, calm, no apology.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3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contributions: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 five-layer adaptive platform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(BKT + Elo + MAB + FSRS unified by KG of 28 concepts).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prerequisite-bandit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submission-to-FSRS-rating 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technical innovations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separate claims.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Pre-registered pilot evaluation protocol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reminder: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 and demonstrated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specified, IRB-reviewed, pre-registered, but not yet executed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 up two fingers when saying "Two contributions" — audience anchor.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40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"By integrating four adaptive techniques that have, until now, been studied in isolation, this work offers a working architectural step toward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individualised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programming education at scale."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the chair, take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E561-7F9C-441E-AFBA-1F000FF79D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2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82296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HTKH GV-SV 2026  •  Student Paper Conference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0A2540"/>
                </a:solidFill>
                <a:latin typeface="Calibri"/>
              </a:rPr>
              <a:t>An Adaptive Learning Platform
for University Programming 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4A5568"/>
                </a:solidFill>
                <a:latin typeface="Calibri"/>
              </a:rPr>
              <a:t>Integrating Bayesian Knowledge Tracing, Elo Rating,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4A5568"/>
                </a:solidFill>
                <a:latin typeface="Calibri"/>
              </a:rPr>
              <a:t>Multi-Armed Bandits, and FSRS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2540"/>
                </a:solidFill>
                <a:latin typeface="Calibri"/>
              </a:rPr>
              <a:t>Nguyễn Tuấn Dương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Class 1C22, Faculty of 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4A5568"/>
                </a:solidFill>
                <a:latin typeface="Calibri"/>
              </a:rPr>
              <a:t>Advisor: M.Sc. Bùi Quốc Khánh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F6B35"/>
                </a:solidFill>
                <a:latin typeface="Calibri"/>
              </a:rPr>
              <a:t>Implementation paper with a pre-registered pilot evaluation protocol.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30–40%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FF6B35"/>
                </a:solidFill>
                <a:latin typeface="Calibri"/>
              </a:rPr>
              <a:t>30–40%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0A2540"/>
                </a:solidFill>
                <a:latin typeface="Calibri"/>
              </a:rPr>
              <a:t>Failure rate in introductory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4A5568"/>
                </a:solidFill>
                <a:latin typeface="Calibri"/>
              </a:rPr>
              <a:t>(Luxton-Reilly et al., ITiCSE 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0A2540"/>
                </a:solidFill>
                <a:latin typeface="Calibri"/>
              </a:rPr>
              <a:t>Stable for decades.</a:t>
            </a:r>
          </a:p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4A5568"/>
                </a:solidFill>
                <a:latin typeface="Calibri"/>
              </a:rPr>
              <a:t>Not because students lack practice material —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the gap is structural.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4A5568"/>
                </a:solidFill>
                <a:latin typeface="Calibri"/>
              </a:rPr>
              <a:t>Programming skill is acquired </a:t>
            </a:r>
          </a:p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FF6B35"/>
                </a:solidFill>
                <a:latin typeface="Calibri"/>
              </a:rPr>
              <a:t>individually and through practice;</a:t>
            </a:r>
          </a:p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4A5568"/>
                </a:solidFill>
                <a:latin typeface="Calibri"/>
              </a:rPr>
              <a:t>it is taught </a:t>
            </a:r>
          </a:p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FF6B35"/>
                </a:solidFill>
                <a:latin typeface="Calibri"/>
              </a:rPr>
              <a:t>uniformly and at scale.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700" b="1" i="0" dirty="0">
                <a:solidFill>
                  <a:srgbClr val="0A2540"/>
                </a:solidFill>
                <a:latin typeface="Calibri"/>
              </a:rPr>
              <a:t>→ The mismatch — not the volume — is the bottleneck.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2/13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integration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Each adaptive technique is mature — but no one has composed all four for programming.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98067" y="2011680"/>
            <a:ext cx="2377440" cy="219456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98067" y="2011680"/>
            <a:ext cx="23774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8067" y="2286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A2540"/>
                </a:solidFill>
                <a:latin typeface="Calibri"/>
              </a:rPr>
              <a:t>BKT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067" y="29718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Bayesian Knowledge Tracing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67" y="3566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Corbett &amp; Anderson, 1995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4107" y="2011680"/>
            <a:ext cx="2377440" cy="219456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4107" y="2011680"/>
            <a:ext cx="23774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4107" y="2286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A2540"/>
                </a:solidFill>
                <a:latin typeface="Calibri"/>
              </a:rPr>
              <a:t>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9718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Dual rating + ZPD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4107" y="3566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Pelánek,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2011680"/>
            <a:ext cx="2377440" cy="219456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0147" y="2011680"/>
            <a:ext cx="23774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0147" y="2286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A2540"/>
                </a:solidFill>
                <a:latin typeface="Calibri"/>
              </a:rPr>
              <a:t>MAB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29718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Thompson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147" y="3566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Chapelle &amp; Li, 2011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16187" y="2011680"/>
            <a:ext cx="2377440" cy="219456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16187" y="2011680"/>
            <a:ext cx="237744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16187" y="22860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A2540"/>
                </a:solidFill>
                <a:latin typeface="Calibri"/>
              </a:rPr>
              <a:t>FSRS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6187" y="29718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Spaced Repetition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6187" y="3566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Ye et al.,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Studied alone or in pairs.</a:t>
            </a:r>
          </a:p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Calibri"/>
              </a:rPr>
              <a:t>Commercial platforms (LeetCode, HackerRank, Codeforces) have huge problem libraries —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Calibri"/>
              </a:rPr>
              <a:t>but rely on static difficulty tags and offer no closed loop from learner outcome back to problem selection.</a:t>
            </a:r>
          </a:p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6B35"/>
                </a:solidFill>
                <a:latin typeface="Calibri"/>
              </a:rPr>
              <a:t>→ This paper closes that loop, and integrates all four under a shared knowledge graph.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3/13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A five-layer adaptive engine on a shared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Knowledge graph: 28 programming concepts, ~45 prerequisite edges, 5 difficulty tiers, 7 topic clusters.</a:t>
            </a:r>
          </a:p>
        </p:txBody>
      </p:sp>
      <p:pic>
        <p:nvPicPr>
          <p:cNvPr id="5" name="Picture 4" descr="ch3-system-architecture-diagram.png"/>
          <p:cNvPicPr>
            <a:picLocks noChangeAspect="1"/>
          </p:cNvPicPr>
          <p:nvPr/>
        </p:nvPicPr>
        <p:blipFill>
          <a:blip r:embed="rId3"/>
          <a:srcRect b="3000"/>
          <a:stretch>
            <a:fillRect/>
          </a:stretch>
        </p:blipFill>
        <p:spPr>
          <a:xfrm>
            <a:off x="1609724" y="1601877"/>
            <a:ext cx="5419725" cy="47515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737360"/>
            <a:ext cx="36576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Layer 1 — BKT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per-concept mastery posterior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Layer 2 — Dynamic Elo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difficulty calibration + ZPD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Layer 3 — Hierarchical MAB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concept → problem selection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2540"/>
                </a:solidFill>
                <a:latin typeface="Calibri"/>
              </a:rPr>
              <a:t>Layer 4 — FSRS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Calibri"/>
              </a:rPr>
              <a:t>review scheduling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4A5568"/>
                </a:solidFill>
                <a:latin typeface="Calibri"/>
              </a:rPr>
              <a:t>Layer 5 — LLM hints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optional, off in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Layer 1 — Bayesian Knowledge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Per-concept mastery posterior, interpretable, cold-start friendly.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0A2540"/>
                </a:solidFill>
                <a:latin typeface="Calibri"/>
              </a:rPr>
              <a:t>Four-parameter HMM, per concept</a:t>
            </a:r>
          </a:p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4A5568"/>
                </a:solidFill>
                <a:latin typeface="Consolas"/>
              </a:rPr>
              <a:t>P(L₀)  prior knowledge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4A5568"/>
                </a:solidFill>
                <a:latin typeface="Consolas"/>
              </a:rPr>
              <a:t>P(T)   transition (learning) probability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4A5568"/>
                </a:solidFill>
                <a:latin typeface="Consolas"/>
              </a:rPr>
              <a:t>P(G)   guess  •  P(S)  slip</a:t>
            </a:r>
          </a:p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0A2540"/>
                </a:solidFill>
                <a:latin typeface="Calibri"/>
              </a:rPr>
              <a:t>Mastered when posterior P(L) ≥ θₘ = 0.85.</a:t>
            </a:r>
          </a:p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FF6B35"/>
                </a:solidFill>
                <a:latin typeface="Calibri"/>
              </a:rPr>
              <a:t>Design choice — tiered priors, not textbook BKT</a:t>
            </a:r>
          </a:p>
          <a:p>
            <a:pPr algn="l">
              <a:lnSpc>
                <a:spcPct val="115000"/>
              </a:lnSpc>
            </a:pPr>
            <a:r>
              <a:rPr sz="4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Each of the 5 difficulty tiers gets its own (P(L₀), P(T), P(G), P(S)).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→ Calibrated cold-start across the curriculum, not one prior fits all.</a:t>
            </a:r>
          </a:p>
          <a:p>
            <a:pPr algn="l">
              <a:lnSpc>
                <a:spcPct val="115000"/>
              </a:lnSpc>
            </a:pPr>
            <a:r>
              <a:rPr sz="8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0A2540"/>
                </a:solidFill>
                <a:latin typeface="Calibri"/>
              </a:rPr>
              <a:t>Why BKT, not Deep Knowledge Tracing?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Interpretable. Data-efficient (~hundreds of learners).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Posterior consumed by the bandit downstream — calibration matters more than raw accuracy.</a:t>
            </a:r>
          </a:p>
        </p:txBody>
      </p:sp>
      <p:pic>
        <p:nvPicPr>
          <p:cNvPr id="6" name="Picture 5" descr="ch4-bkt-params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88" y="2182444"/>
            <a:ext cx="6220412" cy="2441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5/13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Layer 2 — Dynamic Elo + Zone of Proximal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Difficulty calibration that operationalises Bjork’s desirable difficulty.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Dual ratings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5568"/>
                </a:solidFill>
                <a:latin typeface="Calibri"/>
              </a:rPr>
              <a:t>Each learner rated. Each problem rated.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Initial: learner = 1200; problem = 1000 / 1200 / 1400 (E / M / H), clamped to [400, 2800].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Dynamic K-factor   K ∈ [10, 40]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K shrinks for stable learners → higher K when struggling, lower K when steady.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Computed from an exponentially weighted residual trend over the last 10 submissions.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6B35"/>
                </a:solidFill>
                <a:latin typeface="Calibri"/>
              </a:rPr>
              <a:t>ZPD filter   δ ∈ [50, 250]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Keep only problems whose Elo is in [student_elo + 50, student_elo + 250].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A2540"/>
                </a:solidFill>
                <a:latin typeface="Calibri"/>
              </a:rPr>
              <a:t>≈ 36–64% predicted success — “hard, but not too hard”.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540"/>
                </a:solidFill>
                <a:latin typeface="Calibri"/>
              </a:rPr>
              <a:t>→ This filtered candidate pool is what Layer 3 picks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A2540"/>
                </a:solidFill>
                <a:latin typeface="Calibri"/>
              </a:rPr>
              <a:t>Predicted success vs. learner 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4297680"/>
            <a:ext cx="4572000" cy="36576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81160" y="3840480"/>
            <a:ext cx="1828800" cy="914400"/>
          </a:xfrm>
          <a:prstGeom prst="rect">
            <a:avLst/>
          </a:prstGeom>
          <a:solidFill>
            <a:srgbClr val="FFE5D9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81160" y="3520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ZPD band (δ ∈ [50, 250])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15984" y="4069080"/>
            <a:ext cx="73152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46085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0A2540"/>
                </a:solidFill>
                <a:latin typeface="Calibri"/>
              </a:rPr>
              <a:t>Learner 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Calibri"/>
              </a:rPr>
              <a:t>−250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4343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Calibri"/>
              </a:rPr>
              <a:t>+250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20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A2540"/>
                </a:solidFill>
                <a:latin typeface="Calibri"/>
              </a:rPr>
              <a:t>Inside the band: predicted success ≈ 36–64%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486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(Bjork’s desirable difficulty, formalised by Pelánek 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6/13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Layer 3 — Hierarchical MAB with prerequisite 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Two-level Thompson Sampling: outer arm gated by BKT mastery; inner arm by Layer 2’s ZPD.</a:t>
            </a:r>
          </a:p>
        </p:txBody>
      </p:sp>
      <p:pic>
        <p:nvPicPr>
          <p:cNvPr id="5" name="Picture 4" descr="ch4-mab-decision-flow.png"/>
          <p:cNvPicPr>
            <a:picLocks noChangeAspect="1"/>
          </p:cNvPicPr>
          <p:nvPr/>
        </p:nvPicPr>
        <p:blipFill>
          <a:blip r:embed="rId3"/>
          <a:srcRect b="12747"/>
          <a:stretch>
            <a:fillRect/>
          </a:stretch>
        </p:blipFill>
        <p:spPr>
          <a:xfrm>
            <a:off x="487680" y="1435608"/>
            <a:ext cx="5958840" cy="4744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737360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Two-level Thompson Sampling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Outer arm = next concept to practise.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Inner arm = next problem within that concept.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Each arm: Beta(α, β) posterior, updated on every reward.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6B35"/>
                </a:solidFill>
                <a:latin typeface="Calibri"/>
              </a:rPr>
              <a:t>Prerequisite gate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A concept becomes an arm only when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A2540"/>
                </a:solidFill>
                <a:latin typeface="Consolas"/>
              </a:rPr>
              <a:t>every prerequisite has BKT mastery ≥ θₘ = 0.85.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alibri"/>
              </a:rPr>
              <a:t>Inner level then filtered by Layer 2’s ZPD band.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2540"/>
                </a:solidFill>
                <a:latin typeface="Calibri"/>
              </a:rPr>
              <a:t>Reward = scalar in [0, 1]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0.5 · learning gain   (BKT posterior delta)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0.3 · correctness   (attempt-aware)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68"/>
                </a:solidFill>
                <a:latin typeface="Consolas"/>
              </a:rPr>
              <a:t>0.2 · efficiency   (capped at 300 s)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Heuristic weights — re-estimation from pilot traces is named future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7/13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Layer 4 — FSRS for programming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Novel: first reported application of FSRS to programming, via a code-submission-to-rating mapping.</a:t>
            </a:r>
          </a:p>
        </p:txBody>
      </p:sp>
      <p:pic>
        <p:nvPicPr>
          <p:cNvPr id="5" name="Picture 4" descr="ch4-fsrs-retrievability-curve.png"/>
          <p:cNvPicPr>
            <a:picLocks noChangeAspect="1"/>
          </p:cNvPicPr>
          <p:nvPr/>
        </p:nvPicPr>
        <p:blipFill>
          <a:blip r:embed="rId3"/>
          <a:srcRect l="2209" r="9342" b="17790"/>
          <a:stretch>
            <a:fillRect/>
          </a:stretch>
        </p:blipFill>
        <p:spPr>
          <a:xfrm>
            <a:off x="-1" y="2148840"/>
            <a:ext cx="6065521" cy="3918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69164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2540"/>
                </a:solidFill>
                <a:latin typeface="Calibri"/>
              </a:rPr>
              <a:t>Code submission → FSRS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onsolas"/>
              </a:rPr>
              <a:t>fsrs_service.py · submission_to_fsrs_rating()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560320"/>
            <a:ext cx="5760720" cy="329184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if not is_correct: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6B35"/>
                </a:solidFill>
                <a:latin typeface="Consolas"/>
              </a:rPr>
              <a:t>    return 1   # Again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if attempt_number == 1: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if time_spent &lt; 120: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6B35"/>
                </a:solidFill>
                <a:latin typeface="Consolas"/>
              </a:rPr>
              <a:t>        return 4   # Easy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elif time_spent &lt; 300: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6B35"/>
                </a:solidFill>
                <a:latin typeface="Consolas"/>
              </a:rPr>
              <a:t>        return 3   # Good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else: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6B35"/>
                </a:solidFill>
                <a:latin typeface="Consolas"/>
              </a:rPr>
              <a:t>        return 2   # Hard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else:</a:t>
            </a:r>
          </a:p>
          <a:p>
            <a:pPr>
              <a:lnSpc>
                <a:spcPct val="110000"/>
              </a:lnSpc>
            </a:pPr>
            <a:r>
              <a:rPr sz="1500">
                <a:solidFill>
                  <a:srgbClr val="FF6B35"/>
                </a:solidFill>
                <a:latin typeface="Consolas"/>
              </a:rPr>
              <a:t>    return 2   #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98932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A2540"/>
                </a:solidFill>
                <a:latin typeface="Calibri"/>
              </a:rPr>
              <a:t>Review fires when retrievability R(t) drops below 0.9.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8/13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closed loop — every code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One concrete submission, four parallel updates, sub-500-ms recommendation.</a:t>
            </a:r>
          </a:p>
        </p:txBody>
      </p:sp>
      <p:pic>
        <p:nvPicPr>
          <p:cNvPr id="5" name="Picture 4" descr="ch4-adaptive-engine-sequence.png"/>
          <p:cNvPicPr>
            <a:picLocks noChangeAspect="1"/>
          </p:cNvPicPr>
          <p:nvPr/>
        </p:nvPicPr>
        <p:blipFill>
          <a:blip r:embed="rId3"/>
          <a:srcRect b="8453"/>
          <a:stretch>
            <a:fillRect/>
          </a:stretch>
        </p:blipFill>
        <p:spPr>
          <a:xfrm>
            <a:off x="1005425" y="1664018"/>
            <a:ext cx="5971100" cy="4623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737360"/>
            <a:ext cx="347472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1. Submit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Python code, sandboxed.</a:t>
            </a:r>
          </a:p>
          <a:p>
            <a:pPr algn="l">
              <a:lnSpc>
                <a:spcPct val="115000"/>
              </a:lnSpc>
            </a:pPr>
            <a:r>
              <a:rPr sz="1100" b="0" i="1" dirty="0">
                <a:solidFill>
                  <a:srgbClr val="64748B"/>
                </a:solidFill>
                <a:latin typeface="Consolas"/>
              </a:rPr>
              <a:t>256 MB · 5 s · no network · unprivileged.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2. Verdict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(correctness, attempts, time)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6B35"/>
                </a:solidFill>
                <a:latin typeface="Consolas"/>
              </a:rPr>
              <a:t>3. </a:t>
            </a:r>
            <a:r>
              <a:rPr sz="1600" b="1" i="0" dirty="0" err="1">
                <a:solidFill>
                  <a:srgbClr val="FF6B35"/>
                </a:solidFill>
                <a:latin typeface="Consolas"/>
              </a:rPr>
              <a:t>asyncio.gather</a:t>
            </a:r>
            <a:r>
              <a:rPr sz="1600" b="1" i="0" dirty="0">
                <a:solidFill>
                  <a:srgbClr val="FF6B35"/>
                </a:solidFill>
                <a:latin typeface="Consolas"/>
              </a:rPr>
              <a:t>(…)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BKT updates posterior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Elo updates both ratings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FSRS rewrites due date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MAB re-ranks candidates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4. Cache invalidated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4A5568"/>
                </a:solidFill>
                <a:latin typeface="Calibri"/>
              </a:rPr>
              <a:t>Next request gets fresh state.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0A2540"/>
                </a:solidFill>
                <a:latin typeface="Calibri"/>
              </a:rPr>
              <a:t>→ The learner model is never 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9/13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The artifact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Built. Deployed. Tested. Open-source.</a:t>
            </a:r>
          </a:p>
        </p:txBody>
      </p:sp>
      <p:pic>
        <p:nvPicPr>
          <p:cNvPr id="5" name="Picture 4" descr="ch4-tech-stack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4" y="2477820"/>
            <a:ext cx="7210425" cy="26117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737360"/>
            <a:ext cx="4114800" cy="4572000"/>
          </a:xfrm>
          <a:prstGeom prst="rect">
            <a:avLst/>
          </a:prstGeom>
          <a:solidFill>
            <a:srgbClr val="F7FAFC"/>
          </a:solidFill>
          <a:ln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737360"/>
            <a:ext cx="411480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920240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~15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92024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lines of code (Python + 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633472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6334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concepts · 45 prerequisite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346704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34670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curated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59936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&lt; 500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059936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p95 recommendation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773168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77316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concurrent users (NFR target)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486400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4864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Calibri"/>
              </a:rPr>
              <a:t>command Docker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10/13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What is *not* in this paper — the pre-registered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  <a:latin typeface="Calibri"/>
              </a:rPr>
              <a:t>Designed, IRB-cleared, pre-registered. Empirical results in a follow-up.</a:t>
            </a:r>
          </a:p>
        </p:txBody>
      </p:sp>
      <p:pic>
        <p:nvPicPr>
          <p:cNvPr id="5" name="Picture 4" descr="ch5-experiment-timeline.png"/>
          <p:cNvPicPr>
            <a:picLocks noChangeAspect="1"/>
          </p:cNvPicPr>
          <p:nvPr/>
        </p:nvPicPr>
        <p:blipFill>
          <a:blip r:embed="rId3"/>
          <a:srcRect t="19394"/>
          <a:stretch>
            <a:fillRect/>
          </a:stretch>
        </p:blipFill>
        <p:spPr>
          <a:xfrm>
            <a:off x="129540" y="2366358"/>
            <a:ext cx="8216918" cy="2703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737360"/>
            <a:ext cx="32918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Design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Between-subjects, pre/post test.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Control = same UI, non-adaptive recommendations.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Cohort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n = 40–60 undergraduates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Hanoi University, IRB-cleared.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A2540"/>
                </a:solidFill>
                <a:latin typeface="Calibri"/>
              </a:rPr>
              <a:t>Schedule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4 weeks intervention + Week 8 retention.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6B35"/>
                </a:solidFill>
                <a:latin typeface="Calibri"/>
              </a:rPr>
              <a:t>RQ1 (primary)</a:t>
            </a:r>
          </a:p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A5568"/>
                </a:solidFill>
                <a:latin typeface="Calibri"/>
              </a:rPr>
              <a:t>BKT + Elo predictive validity.</a:t>
            </a:r>
          </a:p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A2540"/>
                </a:solidFill>
                <a:latin typeface="Consolas"/>
              </a:rPr>
              <a:t>Target AUC ≥ 0.70.</a:t>
            </a:r>
          </a:p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0A254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64748B"/>
                </a:solidFill>
                <a:latin typeface="Calibri"/>
              </a:rPr>
              <a:t>RQ2 / RQ3 = supporting:</a:t>
            </a:r>
          </a:p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64748B"/>
                </a:solidFill>
                <a:latin typeface="Calibri"/>
              </a:rPr>
              <a:t>acceptance rate, convergence, learning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11/13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A2540"/>
                </a:solidFill>
                <a:latin typeface="Calibri"/>
              </a:rPr>
              <a:t>Contributions, recapped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914400" cy="1463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9144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74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2540"/>
                </a:solidFill>
                <a:latin typeface="Calibri"/>
              </a:rPr>
              <a:t>Integrated five-layer adaptive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774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BKT + Elo + Hierarchical MAB + FSRS, unified by a knowledge graph of 28 programming concepts. The prerequisite-constrained bandit (BKT-mastery-gated arms) and the code-submission-to-FSRS-rating mapping are internal technical innovations that make this integration work, not separate claims. Deployed and open-sourced.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914400" cy="1463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9144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2540"/>
                </a:solidFill>
                <a:latin typeface="Calibri"/>
              </a:rPr>
              <a:t>Pre-registered pilot evaluation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2976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Between-subjects classroom study, 4-week intervention + Week-8 retention follow-up, n = 40–60 Hanoi University undergraduates. IRB-cleared. Primary RQ: BKT/Elo predictive validity, AUC ≥ 0.70. Empirical results to be reported in a follow-up paper.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0A2540"/>
                </a:solidFill>
                <a:latin typeface="Calibri"/>
              </a:rPr>
              <a:t>C1 is implemented and demonstrated technically. </a:t>
            </a:r>
          </a:p>
          <a:p>
            <a:pPr algn="ctr">
              <a:lnSpc>
                <a:spcPct val="115000"/>
              </a:lnSpc>
            </a:pPr>
            <a:r>
              <a:rPr sz="1400" b="0" i="1" dirty="0">
                <a:solidFill>
                  <a:srgbClr val="FF6B35"/>
                </a:solidFill>
                <a:latin typeface="Calibri"/>
              </a:rPr>
              <a:t>C2 is specified, IRB-reviewed, and pre-registered — but not yet executed.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12/13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Nguyen Tuan Duong  •  HTKH GV-SV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FF6B35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2540"/>
                </a:solidFill>
                <a:latin typeface="Calibri"/>
              </a:rPr>
              <a:t>By integrating four adaptive techniques
that have, until now, been studied in isolation,
this work offers a working architectural step
toward individualised programming education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480560"/>
            <a:ext cx="82296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A2540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Nguyễn Tuấn Dương · Class 1C22 · Faculty of IT · Hanoi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Email: ntduongvbhp@gmail.com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Advisor: M.Sc. Bùi Quốc Khánh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2473</Words>
  <Application>Microsoft Office PowerPoint</Application>
  <PresentationFormat>Widescreen</PresentationFormat>
  <Paragraphs>343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Tuan Duong</cp:lastModifiedBy>
  <cp:revision>2</cp:revision>
  <dcterms:created xsi:type="dcterms:W3CDTF">2013-01-27T09:14:16Z</dcterms:created>
  <dcterms:modified xsi:type="dcterms:W3CDTF">2026-05-09T00:07:54Z</dcterms:modified>
  <cp:category/>
</cp:coreProperties>
</file>