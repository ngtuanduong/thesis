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822960" cy="914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HTKH GV-SV 2026  •  Student Paper Conference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0A2540"/>
                </a:solidFill>
                <a:latin typeface="Calibri"/>
              </a:rPr>
              <a:t>An Adaptive Learning Platform
for University Programming Courses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4A5568"/>
                </a:solidFill>
                <a:latin typeface="Calibri"/>
              </a:rPr>
              <a:t>Integrating Bayesian Knowledge Tracing, Elo Rating,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4A5568"/>
                </a:solidFill>
                <a:latin typeface="Calibri"/>
              </a:rPr>
              <a:t>Multi-Armed Bandits, and FSRS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2120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540"/>
                </a:solidFill>
                <a:latin typeface="Calibri"/>
              </a:rPr>
              <a:t>Nguyễn Tuấn Dương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Class 1C22, Faculty of Information 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4A5568"/>
                </a:solidFill>
                <a:latin typeface="Calibri"/>
              </a:rPr>
              <a:t>Advisor: M.Sc. Bùi Quốc Khánh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6B35"/>
                </a:solidFill>
                <a:latin typeface="Calibri"/>
              </a:rPr>
              <a:t>Implementation paper with a pre-registered pilot evaluation protocol.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The 30–40%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548640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6B35"/>
                </a:solidFill>
                <a:latin typeface="Calibri"/>
              </a:rPr>
              <a:t>30–40%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8056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0A2540"/>
                </a:solidFill>
                <a:latin typeface="Calibri"/>
              </a:rPr>
              <a:t>Failure rate in introductory 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4A5568"/>
                </a:solidFill>
                <a:latin typeface="Calibri"/>
              </a:rPr>
              <a:t>(Luxton-Reilly et al., ITiCSE 2018)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9456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A2540"/>
                </a:solidFill>
                <a:latin typeface="Calibri"/>
              </a:rPr>
              <a:t>Stable for decades.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4A5568"/>
                </a:solidFill>
                <a:latin typeface="Calibri"/>
              </a:rPr>
              <a:t>Not because students lack practice material —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the gap is structural.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4A5568"/>
                </a:solidFill>
                <a:latin typeface="Calibri"/>
              </a:rPr>
              <a:t>Programming skill is acquired </a:t>
            </a:r>
          </a:p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FF6B35"/>
                </a:solidFill>
                <a:latin typeface="Calibri"/>
              </a:rPr>
              <a:t>individually and through practice;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4A5568"/>
                </a:solidFill>
                <a:latin typeface="Calibri"/>
              </a:rPr>
              <a:t>it is taught </a:t>
            </a:r>
          </a:p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FF6B35"/>
                </a:solidFill>
                <a:latin typeface="Calibri"/>
              </a:rPr>
              <a:t>uniformly and at scale.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A2540"/>
                </a:solidFill>
                <a:latin typeface="Calibri"/>
              </a:rPr>
              <a:t>→ The mismatch — not the volume — is the bottleneck.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2/13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The 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Each adaptive technique is mature — but no one has composed all four for programming.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998067" y="2011680"/>
            <a:ext cx="2377440" cy="2194560"/>
          </a:xfrm>
          <a:prstGeom prst="rect">
            <a:avLst/>
          </a:prstGeom>
          <a:solidFill>
            <a:srgbClr val="F7FAFC"/>
          </a:solidFill>
          <a:ln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8067" y="2011680"/>
            <a:ext cx="237744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8067" y="228600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A2540"/>
                </a:solidFill>
                <a:latin typeface="Calibri"/>
              </a:rPr>
              <a:t>BKT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8067" y="29718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4A5568"/>
                </a:solidFill>
                <a:latin typeface="Calibri"/>
              </a:rPr>
              <a:t>Bayesian Knowledge Tracing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8067" y="356616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Corbett &amp; Anderson, 1995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4107" y="2011680"/>
            <a:ext cx="2377440" cy="2194560"/>
          </a:xfrm>
          <a:prstGeom prst="rect">
            <a:avLst/>
          </a:prstGeom>
          <a:solidFill>
            <a:srgbClr val="F7FAFC"/>
          </a:solidFill>
          <a:ln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4107" y="2011680"/>
            <a:ext cx="237744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4107" y="228600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A2540"/>
                </a:solidFill>
                <a:latin typeface="Calibri"/>
              </a:rPr>
              <a:t>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4107" y="29718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4A5568"/>
                </a:solidFill>
                <a:latin typeface="Calibri"/>
              </a:rPr>
              <a:t>Dual rating + ZPD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4107" y="356616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Pelánek, 2016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0147" y="2011680"/>
            <a:ext cx="2377440" cy="2194560"/>
          </a:xfrm>
          <a:prstGeom prst="rect">
            <a:avLst/>
          </a:prstGeom>
          <a:solidFill>
            <a:srgbClr val="F7FAFC"/>
          </a:solidFill>
          <a:ln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0147" y="2011680"/>
            <a:ext cx="237744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228600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A2540"/>
                </a:solidFill>
                <a:latin typeface="Calibri"/>
              </a:rPr>
              <a:t>MAB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0147" y="29718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4A5568"/>
                </a:solidFill>
                <a:latin typeface="Calibri"/>
              </a:rPr>
              <a:t>Thompson 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0147" y="356616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Chapelle &amp; Li, 2011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16187" y="2011680"/>
            <a:ext cx="2377440" cy="2194560"/>
          </a:xfrm>
          <a:prstGeom prst="rect">
            <a:avLst/>
          </a:prstGeom>
          <a:solidFill>
            <a:srgbClr val="F7FAFC"/>
          </a:solidFill>
          <a:ln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16187" y="2011680"/>
            <a:ext cx="237744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16187" y="228600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A2540"/>
                </a:solidFill>
                <a:latin typeface="Calibri"/>
              </a:rPr>
              <a:t>FSRS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16187" y="29718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4A5568"/>
                </a:solidFill>
                <a:latin typeface="Calibri"/>
              </a:rPr>
              <a:t>Spaced Repetition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6187" y="3566160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Ye et al.,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7200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0A2540"/>
                </a:solidFill>
                <a:latin typeface="Calibri"/>
              </a:rPr>
              <a:t>Studied alone or in pairs.</a:t>
            </a:r>
          </a:p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4A5568"/>
                </a:solidFill>
                <a:latin typeface="Calibri"/>
              </a:rPr>
              <a:t>Commercial platforms (LeetCode, HackerRank, Codeforces) have huge problem libraries —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4A5568"/>
                </a:solidFill>
                <a:latin typeface="Calibri"/>
              </a:rPr>
              <a:t>but rely on static difficulty tags and offer no closed loop from learner outcome back to problem selection.</a:t>
            </a:r>
          </a:p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6B35"/>
                </a:solidFill>
                <a:latin typeface="Calibri"/>
              </a:rPr>
              <a:t>→ This paper closes that loop, and integrates all four under a shared knowledge graph.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3/13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A five-layer adaptive engine on a shared knowledge 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Knowledge graph: 28 programming concepts, ~45 prerequisite edges, 5 difficulty tiers, 7 topic clusters.</a:t>
            </a:r>
          </a:p>
        </p:txBody>
      </p:sp>
      <p:pic>
        <p:nvPicPr>
          <p:cNvPr id="5" name="Picture 4" descr="ch3-system-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988" y="1737360"/>
            <a:ext cx="5058504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737360"/>
            <a:ext cx="36576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Layer 1 — BKT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per-concept mastery posterior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Layer 2 — Dynamic Elo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difficulty calibration + ZPD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Layer 3 — Hierarchical MAB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concept → problem selection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Layer 4 — FSRS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review scheduling</a:t>
            </a:r>
          </a:p>
          <a:p>
            <a:pPr algn="l">
              <a:lnSpc>
                <a:spcPct val="115000"/>
              </a:lnSpc>
            </a:pPr>
            <a:r>
              <a:rPr sz="6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1">
                <a:solidFill>
                  <a:srgbClr val="4A5568"/>
                </a:solidFill>
                <a:latin typeface="Calibri"/>
              </a:rPr>
              <a:t>Layer 5 — LLM hints</a:t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optional, off in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4/13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Layer 1 — Bayesian Knowledge Tracing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Per-concept mastery posterior, interpretable, cold-start friendly.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A2540"/>
                </a:solidFill>
                <a:latin typeface="Calibri"/>
              </a:rPr>
              <a:t>Four-parameter HMM, per concept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4A5568"/>
                </a:solidFill>
                <a:latin typeface="Consolas"/>
              </a:rPr>
              <a:t>P(L₀)  prior knowledge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4A5568"/>
                </a:solidFill>
                <a:latin typeface="Consolas"/>
              </a:rPr>
              <a:t>P(T)   transition (learning) probability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4A5568"/>
                </a:solidFill>
                <a:latin typeface="Consolas"/>
              </a:rPr>
              <a:t>P(G)   guess  •  P(S)  slip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A2540"/>
                </a:solidFill>
                <a:latin typeface="Calibri"/>
              </a:rPr>
              <a:t>Mastered when posterior P(L) ≥ θₘ = 0.85.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6B35"/>
                </a:solidFill>
                <a:latin typeface="Calibri"/>
              </a:rPr>
              <a:t>Design choice — tiered priors, not textbook BKT</a:t>
            </a:r>
          </a:p>
          <a:p>
            <a:pPr algn="l">
              <a:lnSpc>
                <a:spcPct val="115000"/>
              </a:lnSpc>
            </a:pPr>
            <a:r>
              <a:rPr sz="4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Each of the 5 difficulty tiers gets its own (P(L₀), P(T), P(G), P(S)).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→ Calibrated cold-start across the curriculum, not one prior fits all.</a:t>
            </a:r>
          </a:p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A2540"/>
                </a:solidFill>
                <a:latin typeface="Calibri"/>
              </a:rPr>
              <a:t>Why BKT, not Deep Knowledge Tracing?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Interpretable. Data-efficient (~hundreds of learners).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Posterior consumed by the bandit downstream — calibration matters more than raw accuracy.</a:t>
            </a:r>
          </a:p>
        </p:txBody>
      </p:sp>
      <p:pic>
        <p:nvPicPr>
          <p:cNvPr id="6" name="Picture 5" descr="ch4-bkt-params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982544"/>
            <a:ext cx="5303520" cy="20816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5/13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Layer 2 — Dynamic Elo + Zone of Proximal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Difficulty calibration that operationalises Bjork’s desirable difficulty.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4864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A2540"/>
                </a:solidFill>
                <a:latin typeface="Calibri"/>
              </a:rPr>
              <a:t>Dual ratings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4A5568"/>
                </a:solidFill>
                <a:latin typeface="Calibri"/>
              </a:rPr>
              <a:t>Each learner rated. Each problem rated.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onsolas"/>
              </a:rPr>
              <a:t>Initial: learner = 1200; problem = 1000 / 1200 / 1400 (E / M / H), clamped to [400, 2800].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A2540"/>
                </a:solidFill>
                <a:latin typeface="Calibri"/>
              </a:rPr>
              <a:t>Dynamic K-factor   K ∈ [10, 40]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K shrinks for stable learners → higher K when struggling, lower K when steady.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Computed from an exponentially weighted residual trend over the last 10 submissions.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6B35"/>
                </a:solidFill>
                <a:latin typeface="Calibri"/>
              </a:rPr>
              <a:t>ZPD filter   δ ∈ [50, 250]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onsolas"/>
              </a:rPr>
              <a:t>Keep only problems whose Elo is in [student_elo + 50, student_elo + 250].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A2540"/>
                </a:solidFill>
                <a:latin typeface="Calibri"/>
              </a:rPr>
              <a:t>≈ 36–64% predicted success — “hard, but not too hard”.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A2540"/>
                </a:solidFill>
                <a:latin typeface="Calibri"/>
              </a:rPr>
              <a:t>→ This filtered candidate pool is what Layer 3 picks from.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303520" cy="4572000"/>
          </a:xfrm>
          <a:prstGeom prst="rect">
            <a:avLst/>
          </a:prstGeom>
          <a:solidFill>
            <a:srgbClr val="F7FAFC"/>
          </a:solidFill>
          <a:ln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659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A2540"/>
                </a:solidFill>
                <a:latin typeface="Calibri"/>
              </a:rPr>
              <a:t>Predicted success vs. learner 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4297680"/>
            <a:ext cx="4572000" cy="36576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81160" y="3840480"/>
            <a:ext cx="1828800" cy="914400"/>
          </a:xfrm>
          <a:prstGeom prst="rect">
            <a:avLst/>
          </a:prstGeom>
          <a:solidFill>
            <a:srgbClr val="FFE5D9"/>
          </a:solidFill>
          <a:ln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3520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6B35"/>
                </a:solidFill>
                <a:latin typeface="Calibri"/>
              </a:rPr>
              <a:t>ZPD band (δ ∈ [50, 250])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15984" y="4069080"/>
            <a:ext cx="73152" cy="50292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46177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0A2540"/>
                </a:solidFill>
                <a:latin typeface="Calibri"/>
              </a:rPr>
              <a:t>Learner Elo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3434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A5568"/>
                </a:solidFill>
                <a:latin typeface="Calibri"/>
              </a:rPr>
              <a:t>−250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0" y="43434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A5568"/>
                </a:solidFill>
                <a:latin typeface="Calibri"/>
              </a:rPr>
              <a:t>+250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1206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0A2540"/>
                </a:solidFill>
                <a:latin typeface="Calibri"/>
              </a:rPr>
              <a:t>Inside the band: predicted success ≈ 36–64%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54864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(Bjork’s desirable difficulty, formalised by Pelánek 2016)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6/13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Layer 3 — Hierarchical MAB with prerequisite gating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Two-level Thompson Sampling: outer arm gated by BKT mastery; inner arm by Layer 2’s ZPD.</a:t>
            </a:r>
          </a:p>
        </p:txBody>
      </p:sp>
      <p:pic>
        <p:nvPicPr>
          <p:cNvPr id="5" name="Picture 4" descr="ch4-mab-decision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235" y="1737360"/>
            <a:ext cx="501041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737360"/>
            <a:ext cx="49377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A2540"/>
                </a:solidFill>
                <a:latin typeface="Calibri"/>
              </a:rPr>
              <a:t>Two-level Thompson Sampling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Outer arm = next concept to practise.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Inner arm = next problem within that concept.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onsolas"/>
              </a:rPr>
              <a:t>Each arm: Beta(α, β) posterior, updated on every reward.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6B35"/>
                </a:solidFill>
                <a:latin typeface="Calibri"/>
              </a:rPr>
              <a:t>Prerequisite gate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A concept becomes an arm only when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0A2540"/>
                </a:solidFill>
                <a:latin typeface="Consolas"/>
              </a:rPr>
              <a:t>every prerequisite has BKT mastery ≥ θₘ = 0.85.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Inner level then filtered by Layer 2’s ZPD band.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A2540"/>
                </a:solidFill>
                <a:latin typeface="Calibri"/>
              </a:rPr>
              <a:t>Reward = scalar in [0, 1]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onsolas"/>
              </a:rPr>
              <a:t>0.5 · learning gain   (BKT posterior delta)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onsolas"/>
              </a:rPr>
              <a:t>0.3 · correctness   (attempt-aware)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onsolas"/>
              </a:rPr>
              <a:t>0.2 · efficiency   (capped at 300 s)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Heuristic weights — re-estimation from pilot traces is named future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7/13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Layer 4 — FSRS for programming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Novel: first reported application of FSRS to programming, via a code-submission-to-rating mapping.</a:t>
            </a:r>
          </a:p>
        </p:txBody>
      </p:sp>
      <p:pic>
        <p:nvPicPr>
          <p:cNvPr id="5" name="Picture 4" descr="ch4-fsrs-retrievability-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80369"/>
            <a:ext cx="5303520" cy="36859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1691640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2540"/>
                </a:solidFill>
                <a:latin typeface="Calibri"/>
              </a:rPr>
              <a:t>Code submission → FSRS 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1031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onsolas"/>
              </a:rPr>
              <a:t>fsrs_service.py · submission_to_fsrs_rating()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560320"/>
            <a:ext cx="5760720" cy="3291840"/>
          </a:xfrm>
          <a:prstGeom prst="rect">
            <a:avLst/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74320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if not is_correct: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6B35"/>
                </a:solidFill>
                <a:latin typeface="Consolas"/>
              </a:rPr>
              <a:t>    return 1   # Again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if attempt_number == 1: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if time_spent &lt; 120: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6B35"/>
                </a:solidFill>
                <a:latin typeface="Consolas"/>
              </a:rPr>
              <a:t>        return 4   # Easy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elif time_spent &lt; 300: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6B35"/>
                </a:solidFill>
                <a:latin typeface="Consolas"/>
              </a:rPr>
              <a:t>        return 3   # Good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else: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6B35"/>
                </a:solidFill>
                <a:latin typeface="Consolas"/>
              </a:rPr>
              <a:t>        return 2   # Hard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else:</a:t>
            </a:r>
          </a:p>
          <a:p>
            <a:pPr>
              <a:lnSpc>
                <a:spcPct val="110000"/>
              </a:lnSpc>
            </a:pPr>
            <a:r>
              <a:rPr sz="1500">
                <a:solidFill>
                  <a:srgbClr val="FF6B35"/>
                </a:solidFill>
                <a:latin typeface="Consolas"/>
              </a:rPr>
              <a:t>    return 2   #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5989320"/>
            <a:ext cx="5760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0A2540"/>
                </a:solidFill>
                <a:latin typeface="Calibri"/>
              </a:rPr>
              <a:t>Review fires when retrievability R(t) drops below 0.9.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8/13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The closed loop — every code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One concrete submission, four parallel updates, sub-500-ms recommendation.</a:t>
            </a:r>
          </a:p>
        </p:txBody>
      </p:sp>
      <p:pic>
        <p:nvPicPr>
          <p:cNvPr id="5" name="Picture 4" descr="ch4-adaptive-engine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975" y="1737360"/>
            <a:ext cx="5621408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1737360"/>
            <a:ext cx="347472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1. Submit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Python code, sandboxed.</a:t>
            </a:r>
          </a:p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4748B"/>
                </a:solidFill>
                <a:latin typeface="Consolas"/>
              </a:rPr>
              <a:t>256 MB · 5 s · no network · unprivileged.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2. Verdict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(correctness, attempts, time)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6B35"/>
                </a:solidFill>
                <a:latin typeface="Consolas"/>
              </a:rPr>
              <a:t>3. asyncio.gather(…)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BKT updates posterior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Elo updates both ratings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FSRS rewrites due date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MAB re-ranks candidates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4. Cache invalidated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A5568"/>
                </a:solidFill>
                <a:latin typeface="Calibri"/>
              </a:rPr>
              <a:t>Next request gets fresh state.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A2540"/>
                </a:solidFill>
                <a:latin typeface="Calibri"/>
              </a:rPr>
              <a:t>→ The learner model is never stale.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9/13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The artifact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Built. Deployed. Tested. Open-source.</a:t>
            </a:r>
          </a:p>
        </p:txBody>
      </p:sp>
      <p:pic>
        <p:nvPicPr>
          <p:cNvPr id="5" name="Picture 4" descr="ch4-tech-stack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97861"/>
            <a:ext cx="6766560" cy="24509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737360"/>
            <a:ext cx="4114800" cy="4572000"/>
          </a:xfrm>
          <a:prstGeom prst="rect">
            <a:avLst/>
          </a:prstGeom>
          <a:solidFill>
            <a:srgbClr val="F7FAFC"/>
          </a:solidFill>
          <a:ln>
            <a:solidFill>
              <a:srgbClr val="CBD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0" y="1737360"/>
            <a:ext cx="411480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920240"/>
            <a:ext cx="1463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6B35"/>
                </a:solidFill>
                <a:latin typeface="Calibri"/>
              </a:rPr>
              <a:t>~15 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600" y="1920240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Calibri"/>
              </a:rPr>
              <a:t>lines of code (Python + 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633472"/>
            <a:ext cx="1463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6B35"/>
                </a:solidFill>
                <a:latin typeface="Calibri"/>
              </a:rPr>
              <a:t>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2633472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Calibri"/>
              </a:rPr>
              <a:t>concepts · 45 prerequisite edges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346704"/>
            <a:ext cx="1463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6B35"/>
                </a:solidFill>
                <a:latin typeface="Calibri"/>
              </a:rPr>
              <a:t>170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3346704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Calibri"/>
              </a:rPr>
              <a:t>curated problems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059936"/>
            <a:ext cx="1463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6B35"/>
                </a:solidFill>
                <a:latin typeface="Calibri"/>
              </a:rPr>
              <a:t>&lt; 500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4059936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Calibri"/>
              </a:rPr>
              <a:t>p95 recommendation 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773168"/>
            <a:ext cx="1463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6B35"/>
                </a:solidFill>
                <a:latin typeface="Calibri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4773168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Calibri"/>
              </a:rPr>
              <a:t>concurrent users (NFR target)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5486400"/>
            <a:ext cx="14630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6B35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5486400"/>
            <a:ext cx="2194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2540"/>
                </a:solidFill>
                <a:latin typeface="Calibri"/>
              </a:rPr>
              <a:t>command Docker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10/13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What is *not* in this paper — the pre-registered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6B35"/>
                </a:solidFill>
                <a:latin typeface="Calibri"/>
              </a:rPr>
              <a:t>Designed, IRB-cleared, pre-registered. Empirical results in a follow-up.</a:t>
            </a:r>
          </a:p>
        </p:txBody>
      </p:sp>
      <p:pic>
        <p:nvPicPr>
          <p:cNvPr id="5" name="Picture 4" descr="ch5-experiment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5479"/>
            <a:ext cx="7680960" cy="31357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2918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Design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Between-subjects, pre/post test.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Control = same UI, non-adaptive recommendations.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Cohort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n = 40–60 undergraduates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Hanoi University, IRB-cleared.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A2540"/>
                </a:solidFill>
                <a:latin typeface="Calibri"/>
              </a:rPr>
              <a:t>Schedule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4 weeks intervention + Week 8 retention.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6B35"/>
                </a:solidFill>
                <a:latin typeface="Calibri"/>
              </a:rPr>
              <a:t>RQ1 (primary)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A5568"/>
                </a:solidFill>
                <a:latin typeface="Calibri"/>
              </a:rPr>
              <a:t>BKT + Elo predictive validity.</a:t>
            </a:r>
          </a:p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A2540"/>
                </a:solidFill>
                <a:latin typeface="Consolas"/>
              </a:rPr>
              <a:t>Target AUC ≥ 0.70.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A2540"/>
                </a:solidFill>
                <a:latin typeface="Calibri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RQ2 / RQ3 = supporting:</a:t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4748B"/>
                </a:solidFill>
                <a:latin typeface="Calibri"/>
              </a:rPr>
              <a:t>acceptance rate, convergence, learning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11/13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540"/>
                </a:solidFill>
                <a:latin typeface="Calibri"/>
              </a:rPr>
              <a:t>Contributions, recapped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20240"/>
            <a:ext cx="914400" cy="14630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914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874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540"/>
                </a:solidFill>
                <a:latin typeface="Calibri"/>
              </a:rPr>
              <a:t>Integrated five-layer adaptive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3774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BKT + Elo + Hierarchical MAB + FSRS, unified by a knowledge graph of 28 programming concepts. The prerequisite-constrained bandit (BKT-mastery-gated arms) and the code-submission-to-FSRS-rating mapping are internal technical innovations that make this integration work, not separate claims. Deployed and open-sourced.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840480"/>
            <a:ext cx="914400" cy="146304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914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540"/>
                </a:solidFill>
                <a:latin typeface="Calibri"/>
              </a:rPr>
              <a:t>Pre-registered pilot evaluation protocol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4297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  <a:latin typeface="Calibri"/>
              </a:rPr>
              <a:t>Between-subjects classroom study, 4-week intervention + Week-8 retention follow-up, n = 40–60 Hanoi University undergraduates. IRB-cleared. Primary RQ: BKT/Elo predictive validity, AUC ≥ 0.70. Empirical results to be reported in a follow-up paper.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0A2540"/>
                </a:solidFill>
                <a:latin typeface="Calibri"/>
              </a:rPr>
              <a:t>C1 is implemented and demonstrated technically. </a:t>
            </a:r>
          </a:p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FF6B35"/>
                </a:solidFill>
                <a:latin typeface="Calibri"/>
              </a:rPr>
              <a:t>C2 is specified, IRB-reviewed, and pre-registered — but not yet executed.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12/13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1">
                <a:solidFill>
                  <a:srgbClr val="64748B"/>
                </a:solidFill>
                <a:latin typeface="Calibri"/>
              </a:rPr>
              <a:t>Nguyen Tuan Duong  •  HTKH GV-SV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FF6B35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A2540"/>
                </a:solidFill>
                <a:latin typeface="Calibri"/>
              </a:rPr>
              <a:t>By integrating four adaptive techniques
that have, until now, been studied in isolation,
this work offers a working architectural step
toward individualised programming education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480560"/>
            <a:ext cx="82296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617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A2540"/>
                </a:solidFill>
                <a:latin typeface="Calibri"/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Nguyễn Tuấn Dương · Class 1C22 · Faculty of IT · Hanoi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Email: ntduongvbhp@gmail.com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4A5568"/>
                </a:solidFill>
                <a:latin typeface="Calibri"/>
              </a:rPr>
              <a:t>Advisor: M.Sc. Bùi Quốc Khánh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